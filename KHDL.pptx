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20"/>
  </p:handoutMasterIdLst>
  <p:sldIdLst>
    <p:sldId id="256" r:id="rId4"/>
    <p:sldId id="257" r:id="rId5"/>
    <p:sldId id="271" r:id="rId6"/>
    <p:sldId id="258" r:id="rId7"/>
    <p:sldId id="272" r:id="rId8"/>
    <p:sldId id="259" r:id="rId9"/>
    <p:sldId id="273" r:id="rId10"/>
    <p:sldId id="275" r:id="rId11"/>
    <p:sldId id="276" r:id="rId12"/>
    <p:sldId id="280" r:id="rId13"/>
    <p:sldId id="281" r:id="rId14"/>
    <p:sldId id="282" r:id="rId15"/>
    <p:sldId id="283" r:id="rId16"/>
    <p:sldId id="28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.VnArial" panose="020B720000000000000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.VnArial" panose="020B7200000000000000" charset="0"/>
              </a:defRPr>
            </a:lvl1pPr>
          </a:lstStyle>
          <a:p>
            <a:fld id="{48C9E1EA-9CEF-474A-BC8C-0005D0757EB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.VnArial" panose="020B720000000000000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.VnArial" panose="020B7200000000000000" charset="0"/>
              </a:defRPr>
            </a:lvl1pPr>
          </a:lstStyle>
          <a:p>
            <a:fld id="{86D8C0C7-47B8-4763-A65F-1EF0F449F0D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.VnArial" panose="020B720000000000000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.VnArial" panose="020B720000000000000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.VnArial" panose="020B720000000000000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.VnArial" panose="020B720000000000000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.VnArial" panose="020B720000000000000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.VnArial" panose="020B7200000000000000" charset="0"/>
              </a:defRPr>
            </a:lvl1pPr>
          </a:lstStyle>
          <a:p>
            <a:fld id="{E674AA8C-7C81-4E4B-8AE7-984F0FA7C0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.VnArial" panose="020B720000000000000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.VnArial" panose="020B7200000000000000" charset="0"/>
              </a:defRPr>
            </a:lvl1pPr>
          </a:lstStyle>
          <a:p>
            <a:fld id="{3F20893E-AB38-4347-AE71-0D162BF8AFC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charset="0"/>
          <a:ea typeface="+mj-ea"/>
          <a:cs typeface="Times New Roman" panose="020206030504050203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charset="0"/>
          <a:ea typeface="+mn-ea"/>
          <a:cs typeface="Times New Roman" panose="020206030504050203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zh-CN" altLang="en-US" sz="2400" u="none">
              <a:solidFill>
                <a:srgbClr val="000000"/>
              </a:solidFill>
              <a:latin typeface="Lato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3600" b="1" i="0" u="none" kern="1200">
          <a:solidFill>
            <a:srgbClr val="057174"/>
          </a:solidFill>
          <a:latin typeface=".VnArial" panose="020B7200000000000000" charset="0"/>
          <a:ea typeface="Arial" panose="020B0604020202020204" pitchFamily="34" charset="0"/>
          <a:cs typeface="Times New Roman" panose="0202060305040502030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sz="2400" b="0" i="0" u="none" kern="1200">
          <a:solidFill>
            <a:srgbClr val="000000"/>
          </a:solidFill>
          <a:latin typeface=".VnArial" panose="020B7200000000000000" charset="0"/>
          <a:ea typeface="Arial" panose="020B0604020202020204" pitchFamily="34" charset="0"/>
          <a:cs typeface="Times New Roman" panose="0202060305040502030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78.xml"/><Relationship Id="rId2" Type="http://schemas.openxmlformats.org/officeDocument/2006/relationships/image" Target="../media/image1.png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0.xml"/><Relationship Id="rId2" Type="http://schemas.openxmlformats.org/officeDocument/2006/relationships/image" Target="../media/image2.png"/><Relationship Id="rId1" Type="http://schemas.openxmlformats.org/officeDocument/2006/relationships/tags" Target="../tags/tag7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8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8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0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9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9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9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8.xml"/><Relationship Id="rId2" Type="http://schemas.openxmlformats.org/officeDocument/2006/relationships/image" Target="../media/image27.png"/><Relationship Id="rId1" Type="http://schemas.openxmlformats.org/officeDocument/2006/relationships/tags" Target="../tags/tag9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0.xml"/><Relationship Id="rId2" Type="http://schemas.openxmlformats.org/officeDocument/2006/relationships/image" Target="../media/image28.png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86607" y="2184282"/>
            <a:ext cx="9144000" cy="16985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ptos" charset="0"/>
                <a:ea typeface="+mn-ea"/>
                <a:cs typeface="+mn-ea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ptos" charset="0"/>
                <a:ea typeface="+mn-ea"/>
                <a:cs typeface="+mn-ea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ptos" charset="0"/>
                <a:ea typeface="+mn-ea"/>
                <a:cs typeface="+mn-ea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ptos" charset="0"/>
                <a:ea typeface="+mn-ea"/>
                <a:cs typeface="+mn-ea"/>
              </a:defRPr>
            </a:lvl9pPr>
          </a:lstStyle>
          <a:p>
            <a:pPr algn="l"/>
            <a:r>
              <a:rPr lang="en-US" u="none" dirty="0">
                <a:solidFill>
                  <a:srgbClr val="000000"/>
                </a:solidFill>
                <a:ea typeface="+mn-ea"/>
              </a:rPr>
              <a:t>Họ tên: Phạm Duy Tiến Minh</a:t>
            </a:r>
            <a:endParaRPr lang="en-US" u="none" dirty="0">
              <a:solidFill>
                <a:srgbClr val="000000"/>
              </a:solidFill>
              <a:ea typeface="+mn-ea"/>
            </a:endParaRPr>
          </a:p>
          <a:p>
            <a:pPr algn="l"/>
            <a:r>
              <a:rPr lang="en-US" u="none" dirty="0" err="1">
                <a:solidFill>
                  <a:srgbClr val="000000"/>
                </a:solidFill>
                <a:ea typeface="+mn-ea"/>
              </a:rPr>
              <a:t>Lớp</a:t>
            </a:r>
            <a:r>
              <a:rPr lang="en-US" u="none" dirty="0">
                <a:solidFill>
                  <a:srgbClr val="000000"/>
                </a:solidFill>
                <a:ea typeface="+mn-ea"/>
              </a:rPr>
              <a:t>: K58.KTP</a:t>
            </a:r>
            <a:endParaRPr lang="en-US" u="none" dirty="0">
              <a:solidFill>
                <a:srgbClr val="000000"/>
              </a:solidFill>
              <a:ea typeface="+mn-ea"/>
            </a:endParaRPr>
          </a:p>
          <a:p>
            <a:pPr algn="l"/>
            <a:r>
              <a:rPr lang="en-US" u="none" dirty="0">
                <a:solidFill>
                  <a:srgbClr val="000000"/>
                </a:solidFill>
                <a:ea typeface="+mn-ea"/>
              </a:rPr>
              <a:t>MSSV: K225480106048</a:t>
            </a:r>
            <a:endParaRPr lang="en-US" u="none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5" name="Subtitle 2"/>
          <p:cNvSpPr txBox="1"/>
          <p:nvPr>
            <p:custDataLst>
              <p:tags r:id="rId2"/>
            </p:custDataLst>
          </p:nvPr>
        </p:nvSpPr>
        <p:spPr>
          <a:xfrm>
            <a:off x="1886607" y="4203458"/>
            <a:ext cx="9144000" cy="72948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u="none" dirty="0" err="1">
                <a:solidFill>
                  <a:srgbClr val="000000"/>
                </a:solidFill>
                <a:latin typeface="Times New Roman" panose="02020603050405020304" charset="0"/>
              </a:rPr>
              <a:t>Đề</a:t>
            </a:r>
            <a:r>
              <a:rPr lang="en-US" u="none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u="none" dirty="0" err="1">
                <a:solidFill>
                  <a:srgbClr val="000000"/>
                </a:solidFill>
                <a:latin typeface="Times New Roman" panose="02020603050405020304" charset="0"/>
              </a:rPr>
              <a:t>tài</a:t>
            </a:r>
            <a:r>
              <a:rPr lang="en-US" u="none" dirty="0">
                <a:solidFill>
                  <a:srgbClr val="000000"/>
                </a:solidFill>
                <a:latin typeface="Times New Roman" panose="02020603050405020304" charset="0"/>
              </a:rPr>
              <a:t>: 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Phân tích và dự 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đ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oán khả n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ă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ng 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đ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ỗ 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đ</a:t>
            </a:r>
            <a:r>
              <a:rPr lang="en-US" altLang="en-US" u="none" dirty="0">
                <a:solidFill>
                  <a:srgbClr val="000000"/>
                </a:solidFill>
                <a:latin typeface="Times New Roman" panose="02020603050405020304" charset="0"/>
              </a:rPr>
              <a:t>ại học của học sinh</a:t>
            </a:r>
            <a:endParaRPr lang="en-US" altLang="en-US" u="none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6000" y="77084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40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Khoa học dữ liệu</a:t>
            </a:r>
            <a:endParaRPr lang="en-US" sz="40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881110" y="6024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GVHD: Ts. Nguyễn Văn Huy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14712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Phân tích và dự </a:t>
            </a:r>
            <a:r>
              <a:rPr lang="" altLang="en-US" sz="2400" u="none" dirty="0">
                <a:solidFill>
                  <a:srgbClr val="000000"/>
                </a:solidFill>
                <a:ea typeface="+mn-ea"/>
              </a:rPr>
              <a:t>đ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oán khả n</a:t>
            </a:r>
            <a:r>
              <a:rPr lang="" altLang="en-US" sz="2400" u="none" dirty="0">
                <a:solidFill>
                  <a:srgbClr val="000000"/>
                </a:solidFill>
                <a:ea typeface="+mn-ea"/>
              </a:rPr>
              <a:t>ă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ng </a:t>
            </a:r>
            <a:r>
              <a:rPr lang="" altLang="en-US" sz="2400" u="none" dirty="0">
                <a:solidFill>
                  <a:srgbClr val="000000"/>
                </a:solidFill>
                <a:ea typeface="+mn-ea"/>
              </a:rPr>
              <a:t>đ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ỗ </a:t>
            </a:r>
            <a:r>
              <a:rPr lang="" altLang="en-US" sz="2400" u="none" dirty="0">
                <a:solidFill>
                  <a:srgbClr val="000000"/>
                </a:solidFill>
                <a:ea typeface="+mn-ea"/>
              </a:rPr>
              <a:t>đ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ại học của học sinh</a:t>
            </a:r>
            <a:endParaRPr lang="en-US" altLang="en-US" sz="2400" u="none" dirty="0">
              <a:solidFill>
                <a:srgbClr val="000000"/>
              </a:solidFill>
              <a:ea typeface="+mn-ea"/>
            </a:endParaRPr>
          </a:p>
          <a:p>
            <a:pPr marL="0" indent="0">
              <a:buNone/>
            </a:pPr>
            <a:r>
              <a:rPr lang="en-US" sz="2400" u="none" dirty="0" err="1">
                <a:solidFill>
                  <a:srgbClr val="000000"/>
                </a:solidFill>
                <a:ea typeface="+mn-ea"/>
              </a:rPr>
              <a:t>Dữ liệu</a:t>
            </a:r>
            <a:r>
              <a:rPr lang="en-US" sz="2400" u="none" dirty="0">
                <a:solidFill>
                  <a:srgbClr val="000000"/>
                </a:solidFill>
                <a:ea typeface="+mn-ea"/>
              </a:rPr>
              <a:t>: 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Bộ dữ liệu 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đư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ợc tạo ngẫu nhiên 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đ</a:t>
            </a:r>
            <a:r>
              <a:rPr lang="en-US" altLang="en-US" sz="2400" u="none" dirty="0">
                <a:solidFill>
                  <a:srgbClr val="000000"/>
                </a:solidFill>
                <a:ea typeface="+mn-ea"/>
              </a:rPr>
              <a:t>ể mô phỏng dữ liệu thực tế </a:t>
            </a:r>
            <a:endParaRPr lang="en-US" altLang="en-US" sz="2400" u="none" dirty="0">
              <a:solidFill>
                <a:srgbClr val="000000"/>
              </a:solidFill>
              <a:ea typeface="+mn-ea"/>
            </a:endParaRPr>
          </a:p>
          <a:p>
            <a:pPr marL="0" indent="0">
              <a:buNone/>
            </a:pPr>
            <a:endParaRPr lang="en-US" altLang="en-US" sz="2400" u="none" dirty="0">
              <a:solidFill>
                <a:srgbClr val="000000"/>
              </a:solidFill>
              <a:ea typeface="+mn-ea"/>
            </a:endParaRPr>
          </a:p>
          <a:p>
            <a:pPr marL="0" indent="0">
              <a:buNone/>
            </a:pPr>
            <a:endParaRPr lang="en-US" sz="2400" u="none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4" name="Content Placeholder 2"/>
          <p:cNvSpPr txBox="1"/>
          <p:nvPr>
            <p:custDataLst>
              <p:tags r:id="rId2"/>
            </p:custDataLst>
          </p:nvPr>
        </p:nvSpPr>
        <p:spPr>
          <a:xfrm>
            <a:off x="838200" y="2601595"/>
            <a:ext cx="10515600" cy="34607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400" u="none" dirty="0" err="1">
                <a:solidFill>
                  <a:srgbClr val="000000"/>
                </a:solidFill>
                <a:latin typeface="Times New Roman" panose="02020603050405020304" charset="0"/>
              </a:rPr>
              <a:t>Mục</a:t>
            </a:r>
            <a:r>
              <a:rPr 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u="none" dirty="0" err="1">
                <a:solidFill>
                  <a:srgbClr val="000000"/>
                </a:solidFill>
                <a:latin typeface="Times New Roman" panose="02020603050405020304" charset="0"/>
              </a:rPr>
              <a:t>tiêu</a:t>
            </a:r>
            <a:r>
              <a:rPr 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:</a:t>
            </a:r>
            <a:endParaRPr lang="en-US" sz="2400" u="none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u="none" dirty="0" err="1">
                <a:solidFill>
                  <a:srgbClr val="000000"/>
                </a:solidFill>
                <a:latin typeface="Times New Roman" panose="02020603050405020304" charset="0"/>
              </a:rPr>
              <a:t>Phân</a:t>
            </a:r>
            <a:r>
              <a:rPr 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u="none" dirty="0" err="1">
                <a:solidFill>
                  <a:srgbClr val="000000"/>
                </a:solidFill>
                <a:latin typeface="Times New Roman" panose="02020603050405020304" charset="0"/>
              </a:rPr>
              <a:t>tích</a:t>
            </a:r>
            <a:r>
              <a:rPr 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u="none" dirty="0" err="1">
                <a:solidFill>
                  <a:srgbClr val="000000"/>
                </a:solidFill>
                <a:latin typeface="Times New Roman" panose="02020603050405020304" charset="0"/>
              </a:rPr>
              <a:t>dữ</a:t>
            </a:r>
            <a:r>
              <a:rPr 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u="none" dirty="0" err="1">
                <a:solidFill>
                  <a:srgbClr val="000000"/>
                </a:solidFill>
                <a:latin typeface="Times New Roman" panose="02020603050405020304" charset="0"/>
              </a:rPr>
              <a:t>liệu</a:t>
            </a:r>
            <a:r>
              <a:rPr 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:</a:t>
            </a:r>
            <a:endParaRPr lang="en-US" sz="2400" u="none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Tính 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đ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iểm trung bình (GPA) của học sinh</a:t>
            </a:r>
            <a:r>
              <a:rPr 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.</a:t>
            </a: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Đ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ánh giá kết quả học tập theo từng nhóm học lực</a:t>
            </a:r>
            <a:r>
              <a:rPr 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.</a:t>
            </a: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Quan sát sự phân bố 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đ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iểm số của học sinh.</a:t>
            </a:r>
            <a:endParaRPr lang="en-US" alt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Xác 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đ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ịnh học sinh có thành tích cao nhất</a:t>
            </a:r>
            <a:r>
              <a:rPr 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.</a:t>
            </a: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Thống kê tỷ lệ học sinh theo từng mức học lực</a:t>
            </a:r>
            <a:r>
              <a:rPr 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.</a:t>
            </a: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8240" y="4133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Giới thiệu đề tài</a:t>
            </a:r>
            <a:endParaRPr lang="en-US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/>
          <p:nvPr>
            <p:custDataLst>
              <p:tags r:id="rId1"/>
            </p:custDataLst>
          </p:nvPr>
        </p:nvSpPr>
        <p:spPr>
          <a:xfrm>
            <a:off x="1100455" y="1149350"/>
            <a:ext cx="10515600" cy="365569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Phân cụm dữ liệu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:</a:t>
            </a:r>
            <a:endParaRPr lang="en-US" sz="2400" u="none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Times New Roman" panose="02020603050405020304" charset="0"/>
                <a:sym typeface="+mn-ea"/>
              </a:rPr>
              <a:t>Phân nhóm học sinh theo 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đ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ặc 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đ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iểm học tập</a:t>
            </a:r>
            <a:r>
              <a:rPr lang="en-US" sz="2400" dirty="0">
                <a:latin typeface="Times New Roman" panose="02020603050405020304" charset="0"/>
                <a:sym typeface="+mn-ea"/>
              </a:rPr>
              <a:t>.</a:t>
            </a: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Times New Roman" panose="02020603050405020304" charset="0"/>
                <a:sym typeface="+mn-ea"/>
              </a:rPr>
              <a:t>Xác 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đ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ịnh các nhóm học sinh có mức 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đ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ộ t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ư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ơng 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đ</a:t>
            </a:r>
            <a:r>
              <a:rPr lang="en-US" altLang="en-US" sz="2400" dirty="0">
                <a:latin typeface="Times New Roman" panose="02020603050405020304" charset="0"/>
                <a:sym typeface="+mn-ea"/>
              </a:rPr>
              <a:t>ồng</a:t>
            </a:r>
            <a:r>
              <a:rPr lang="en-US" sz="2400" dirty="0">
                <a:latin typeface="Times New Roman" panose="02020603050405020304" charset="0"/>
                <a:sym typeface="+mn-ea"/>
              </a:rPr>
              <a:t>.</a:t>
            </a:r>
            <a:endParaRPr lang="en-US" sz="2400" dirty="0">
              <a:latin typeface="Times New Roman" panose="02020603050405020304" charset="0"/>
              <a:sym typeface="+mn-ea"/>
            </a:endParaRPr>
          </a:p>
          <a:p>
            <a:pPr marL="457200" lvl="1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None/>
            </a:pP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Dự </a:t>
            </a:r>
            <a:r>
              <a:rPr lang="en-US" alt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đ</a:t>
            </a:r>
            <a:r>
              <a:rPr lang="en-US" alt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oán kết quả</a:t>
            </a:r>
            <a:r>
              <a:rPr lang="en-US" sz="2400" u="none" dirty="0">
                <a:solidFill>
                  <a:srgbClr val="000000"/>
                </a:solidFill>
                <a:latin typeface="Times New Roman" panose="02020603050405020304" charset="0"/>
              </a:rPr>
              <a:t>:</a:t>
            </a:r>
            <a:endParaRPr lang="en-US" sz="2400" u="none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Xây dựng mô hình Random Forest</a:t>
            </a:r>
            <a:r>
              <a:rPr 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.</a:t>
            </a: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Xây dựng mô hình Logistic Regression</a:t>
            </a:r>
            <a:r>
              <a:rPr 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.</a:t>
            </a: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Dự 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đ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oán khả n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ă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ng 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đ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ỗ hoặc tr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ư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ợt 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đ</a:t>
            </a:r>
            <a:r>
              <a:rPr lang="en-US" altLang="en-US" sz="2400" u="none" dirty="0">
                <a:solidFill>
                  <a:schemeClr val="tx1"/>
                </a:solidFill>
                <a:latin typeface="Times New Roman" panose="02020603050405020304" charset="0"/>
              </a:rPr>
              <a:t>ại học.</a:t>
            </a:r>
            <a:endParaRPr lang="en-US" sz="2400" u="none" dirty="0">
              <a:solidFill>
                <a:schemeClr val="tx1"/>
              </a:solidFill>
              <a:latin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35395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THỰC HIỆN ĐỀ TÀI</a:t>
            </a:r>
            <a:endParaRPr lang="en-US" sz="32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245" y="1506855"/>
            <a:ext cx="8476615" cy="45986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35395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32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QUY TR</a:t>
            </a:r>
            <a:r>
              <a:rPr lang="en-US" altLang="en-US" sz="32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Ì</a:t>
            </a:r>
            <a:r>
              <a:rPr lang="en-US" altLang="en-US" sz="32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NH THỰC HIỆN</a:t>
            </a:r>
            <a:endParaRPr lang="en-US" altLang="en-US" sz="32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845" y="1426210"/>
            <a:ext cx="8006080" cy="44627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64375" y="-743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1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–</a:t>
            </a:r>
            <a:r>
              <a:rPr 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 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KHỞI TẠO TH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Ư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 VIỆN 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r="5965"/>
          <a:stretch>
            <a:fillRect/>
          </a:stretch>
        </p:blipFill>
        <p:spPr>
          <a:xfrm>
            <a:off x="0" y="876935"/>
            <a:ext cx="6296660" cy="5800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965" y="2050415"/>
            <a:ext cx="7639050" cy="36290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64375" y="6663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2 – 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Đ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ỌC DỮ LIỆU 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85" y="1108075"/>
            <a:ext cx="5210175" cy="3467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310" y="4575175"/>
            <a:ext cx="3238500" cy="7334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78955" y="16465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3 – TIỀN XỬ L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Ý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 DỮ LIỆU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965200"/>
            <a:ext cx="4762500" cy="3838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065" y="1741170"/>
            <a:ext cx="3505200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225" y="5067300"/>
            <a:ext cx="3230880" cy="1790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805" y="5064760"/>
            <a:ext cx="3200400" cy="17907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64375" y="6663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4 – PH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Â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N CỤM K-MEANS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18439"/>
          <a:stretch>
            <a:fillRect/>
          </a:stretch>
        </p:blipFill>
        <p:spPr>
          <a:xfrm>
            <a:off x="265430" y="1387475"/>
            <a:ext cx="6000750" cy="41484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180" y="2430780"/>
            <a:ext cx="4352925" cy="31051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64375" y="6663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5 – RANDOM FOREST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15" y="1023620"/>
            <a:ext cx="5010150" cy="4352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80" y="0"/>
            <a:ext cx="3415030" cy="44716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310" y="3547110"/>
            <a:ext cx="3996690" cy="28752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64375" y="6663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6 – LOGISTIC REGRESSION 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" y="1435735"/>
            <a:ext cx="5486400" cy="2505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475" y="1619250"/>
            <a:ext cx="4314825" cy="3619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64375" y="6663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7 – TRỰC QUAN H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Ó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A DỮ LIỆU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977900"/>
            <a:ext cx="5238750" cy="4552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10" y="0"/>
            <a:ext cx="3345180" cy="358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705" y="3338830"/>
            <a:ext cx="3757295" cy="35191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5940" y="3581400"/>
            <a:ext cx="2733675" cy="32766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64375" y="-743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8 – XUẤT EXCEL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5700"/>
            <a:ext cx="4298950" cy="18129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52780"/>
            <a:ext cx="3116580" cy="17729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38625"/>
            <a:ext cx="4572000" cy="1279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855" y="827405"/>
            <a:ext cx="3772535" cy="14243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855" y="2642235"/>
            <a:ext cx="5181600" cy="11391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07200" y="2838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KẾT QUẢ 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Đ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ẠT 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ĐƯ</a:t>
            </a:r>
            <a:r>
              <a:rPr lang="en-US" altLang="en-US" sz="24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ỢC</a:t>
            </a:r>
            <a:endParaRPr lang="en-US" altLang="en-US" sz="24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160" y="1456055"/>
            <a:ext cx="7023100" cy="35318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00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2800" b="0" u="none" dirty="0">
                <a:solidFill>
                  <a:srgbClr val="057174"/>
                </a:solidFill>
                <a:latin typeface="Times New Roman" panose="02020603050405020304" charset="0"/>
                <a:sym typeface="+mn-ea"/>
              </a:rPr>
              <a:t>Kết luận</a:t>
            </a:r>
            <a:endParaRPr lang="en-US" sz="2800" b="0" u="none" dirty="0">
              <a:solidFill>
                <a:srgbClr val="057174"/>
              </a:solidFill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820" y="1550670"/>
            <a:ext cx="7935595" cy="33642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6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SLIDE_TYPE" val="text"/>
  <p:tag name="KSO_WM_BEAUTIFY_FLAG" val="#wm#"/>
  <p:tag name="KSO_WM_SLIDE_THEME_ID" val="3321262"/>
  <p:tag name="KSO_WM_SLIDE_THEME_NAME" val="White Minimalist"/>
</p:tagLst>
</file>

<file path=ppt/tags/tag71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2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73.xml><?xml version="1.0" encoding="utf-8"?>
<p:tagLst xmlns:p="http://schemas.openxmlformats.org/presentationml/2006/main">
  <p:tag name="KSO_WM_UNIT_TEXT" val="Khoa học dữ liệu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74.xml><?xml version="1.0" encoding="utf-8"?>
<p:tagLst xmlns:p="http://schemas.openxmlformats.org/presentationml/2006/main">
  <p:tag name="KSO_WM_SLIDE_TYPE" val="text"/>
  <p:tag name="KSO_WM_BEAUTIFY_FLAG" val="#wm#"/>
</p:tagLst>
</file>

<file path=ppt/tags/tag7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76.xml><?xml version="1.0" encoding="utf-8"?>
<p:tagLst xmlns:p="http://schemas.openxmlformats.org/presentationml/2006/main">
  <p:tag name="KSO_WM_SLIDE_TYPE" val="text"/>
  <p:tag name="KSO_WM_BEAUTIFY_FLAG" val="#wm#"/>
</p:tagLst>
</file>

<file path=ppt/tags/tag77.xml><?xml version="1.0" encoding="utf-8"?>
<p:tagLst xmlns:p="http://schemas.openxmlformats.org/presentationml/2006/main">
  <p:tag name="KSO_WM_UNIT_TEXT" val="Giới thiệu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78.xml><?xml version="1.0" encoding="utf-8"?>
<p:tagLst xmlns:p="http://schemas.openxmlformats.org/presentationml/2006/main">
  <p:tag name="KSO_WM_SLIDE_TYPE" val="text"/>
  <p:tag name="KSO_WM_BEAUTIFY_FLAG" val="#wm#"/>
</p:tagLst>
</file>

<file path=ppt/tags/tag79.xml><?xml version="1.0" encoding="utf-8"?>
<p:tagLst xmlns:p="http://schemas.openxmlformats.org/presentationml/2006/main">
  <p:tag name="KSO_WM_UNIT_TEXT" val="Giới thiệu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SLIDE_TYPE" val="text"/>
  <p:tag name="KSO_WM_BEAUTIFY_FLAG" val="#wm#"/>
</p:tagLst>
</file>

<file path=ppt/tags/tag81.xml><?xml version="1.0" encoding="utf-8"?>
<p:tagLst xmlns:p="http://schemas.openxmlformats.org/presentationml/2006/main">
  <p:tag name="KSO_WM_UNIT_TEXT" val="THỰC HIỆN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2.xml><?xml version="1.0" encoding="utf-8"?>
<p:tagLst xmlns:p="http://schemas.openxmlformats.org/presentationml/2006/main">
  <p:tag name="KSO_WM_SLIDE_TYPE" val="text"/>
  <p:tag name="KSO_WM_BEAUTIFY_FLAG" val="#wm#"/>
</p:tagLst>
</file>

<file path=ppt/tags/tag83.xml><?xml version="1.0" encoding="utf-8"?>
<p:tagLst xmlns:p="http://schemas.openxmlformats.org/presentationml/2006/main">
  <p:tag name="KSO_WM_UNIT_TEXT" val="THỰC HIỆN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4.xml><?xml version="1.0" encoding="utf-8"?>
<p:tagLst xmlns:p="http://schemas.openxmlformats.org/presentationml/2006/main">
  <p:tag name="KSO_WM_SLIDE_TYPE" val="text"/>
  <p:tag name="KSO_WM_BEAUTIFY_FLAG" val="#wm#"/>
</p:tagLst>
</file>

<file path=ppt/tags/tag85.xml><?xml version="1.0" encoding="utf-8"?>
<p:tagLst xmlns:p="http://schemas.openxmlformats.org/presentationml/2006/main">
  <p:tag name="KSO_WM_UNIT_TEXT" val="THỰC HIỆN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6.xml><?xml version="1.0" encoding="utf-8"?>
<p:tagLst xmlns:p="http://schemas.openxmlformats.org/presentationml/2006/main">
  <p:tag name="KSO_WM_SLIDE_TYPE" val="text"/>
  <p:tag name="KSO_WM_BEAUTIFY_FLAG" val="#wm#"/>
</p:tagLst>
</file>

<file path=ppt/tags/tag87.xml><?xml version="1.0" encoding="utf-8"?>
<p:tagLst xmlns:p="http://schemas.openxmlformats.org/presentationml/2006/main">
  <p:tag name="KSO_WM_UNIT_TEXT" val="THỰC HIỆN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8.xml><?xml version="1.0" encoding="utf-8"?>
<p:tagLst xmlns:p="http://schemas.openxmlformats.org/presentationml/2006/main">
  <p:tag name="KSO_WM_SLIDE_TYPE" val="text"/>
  <p:tag name="KSO_WM_BEAUTIFY_FLAG" val="#wm#"/>
</p:tagLst>
</file>

<file path=ppt/tags/tag89.xml><?xml version="1.0" encoding="utf-8"?>
<p:tagLst xmlns:p="http://schemas.openxmlformats.org/presentationml/2006/main">
  <p:tag name="KSO_WM_UNIT_TEXT" val="THỰC HIỆN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SLIDE_TYPE" val="text"/>
  <p:tag name="KSO_WM_BEAUTIFY_FLAG" val="#wm#"/>
</p:tagLst>
</file>

<file path=ppt/tags/tag91.xml><?xml version="1.0" encoding="utf-8"?>
<p:tagLst xmlns:p="http://schemas.openxmlformats.org/presentationml/2006/main">
  <p:tag name="KSO_WM_UNIT_TEXT" val="THỰC HIỆN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SLIDE_TYPE" val="text"/>
  <p:tag name="KSO_WM_BEAUTIFY_FLAG" val="#wm#"/>
</p:tagLst>
</file>

<file path=ppt/tags/tag93.xml><?xml version="1.0" encoding="utf-8"?>
<p:tagLst xmlns:p="http://schemas.openxmlformats.org/presentationml/2006/main">
  <p:tag name="KSO_WM_UNIT_TEXT" val="THỰC HIỆN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TEXT" val="THỰC HIỆN ĐỀ TÀ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SLIDE_TYPE" val="text"/>
  <p:tag name="KSO_WM_BEAUTIFY_FLAG" val="#wm#"/>
</p:tagLst>
</file>

<file path=ppt/tags/tag97.xml><?xml version="1.0" encoding="utf-8"?>
<p:tagLst xmlns:p="http://schemas.openxmlformats.org/presentationml/2006/main">
  <p:tag name="KSO_WM_UNIT_TEXT" val="Cell 7: SẮP XẾP DANH SÁCH, XUẤT EXCEL ĐỊNH DẠNG ĐẸP &amp; XUẤT BÁO CÁO WOR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8.xml><?xml version="1.0" encoding="utf-8"?>
<p:tagLst xmlns:p="http://schemas.openxmlformats.org/presentationml/2006/main">
  <p:tag name="KSO_WM_SLIDE_TYPE" val="text"/>
  <p:tag name="KSO_WM_BEAUTIFY_FLAG" val="#wm#"/>
</p:tagLst>
</file>

<file path=ppt/tags/tag99.xml><?xml version="1.0" encoding="utf-8"?>
<p:tagLst xmlns:p="http://schemas.openxmlformats.org/presentationml/2006/main">
  <p:tag name="KSO_WM_UNIT_TEXT" val="Cell 7: SẮP XẾP DANH SÁCH, XUẤT EXCEL ĐỊNH DẠNG ĐẸP &amp; XUẤT BÁO CÁO WOR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.Vn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.Vn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</Words>
  <Application>WPS Presentation</Application>
  <PresentationFormat>Widescreen</PresentationFormat>
  <Paragraphs>58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.VnArial</vt:lpstr>
      <vt:lpstr>Times New Roman</vt:lpstr>
      <vt:lpstr>Lato</vt:lpstr>
      <vt:lpstr>Aptos</vt:lpstr>
      <vt:lpstr>Segoe UI</vt:lpstr>
      <vt:lpstr>Courier New</vt:lpstr>
      <vt:lpstr>Microsoft YaHei</vt:lpstr>
      <vt:lpstr>Arial Unicode MS</vt:lpstr>
      <vt:lpstr>Calibri Light</vt:lpstr>
      <vt:lpstr>Calibri</vt:lpstr>
      <vt:lpstr>Segoe Print</vt:lpstr>
      <vt:lpstr>Office Theme</vt:lpstr>
      <vt:lpstr>1_Office Theme</vt:lpstr>
      <vt:lpstr>Khoa học dữ liệu</vt:lpstr>
      <vt:lpstr>Giới thiệu đề tài</vt:lpstr>
      <vt:lpstr>PowerPoint 演示文稿</vt:lpstr>
      <vt:lpstr>THỰC HIỆN ĐỀ TÀI</vt:lpstr>
      <vt:lpstr>QUY TRÌNH THỰC HIỆN</vt:lpstr>
      <vt:lpstr>1– KHỞI TẠO THƯ VIỆN </vt:lpstr>
      <vt:lpstr>2 – ĐỌC DỮ LIỆU </vt:lpstr>
      <vt:lpstr>PowerPoint 演示文稿</vt:lpstr>
      <vt:lpstr>4 – PHÂN CỤM K-MEANS</vt:lpstr>
      <vt:lpstr>5 – RANDOM FOREST</vt:lpstr>
      <vt:lpstr>6 – LOGISTIC REGRESSION </vt:lpstr>
      <vt:lpstr>7 – TRỰC QUAN HÓA DỮ LIỆU</vt:lpstr>
      <vt:lpstr>8 – XUẤT EXCEL</vt:lpstr>
      <vt:lpstr>KẾT QUẢ ĐẠT ĐƯỢC</vt:lpstr>
      <vt:lpstr>Kết luận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mh dg</dc:creator>
  <cp:lastModifiedBy>AS Phạm</cp:lastModifiedBy>
  <cp:revision>139</cp:revision>
  <dcterms:created xsi:type="dcterms:W3CDTF">2026-06-20T10:43:00Z</dcterms:created>
  <dcterms:modified xsi:type="dcterms:W3CDTF">2026-06-23T12:26:06Z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1033-12.1.0.24752</vt:lpwstr>
  </property>
  <property fmtid="{D5CDD505-2E9C-101B-9397-08002B2CF9AE}" pid="3" name="ICV">
    <vt:lpwstr>803CA7C98F2F480BA27602319CE9AB08_12</vt:lpwstr>
  </property>
</Properties>
</file>